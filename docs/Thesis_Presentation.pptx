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D1880A-9AEC-48F1-8BBF-5A0CC31E2FAE}" v="2" dt="2026-05-16T10:20:28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3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n Tian" userId="cf932c13ee24b1a6" providerId="LiveId" clId="{D96E9A93-9B9B-4610-B31F-C3D5074ED6CD}"/>
    <pc:docChg chg="modSld">
      <pc:chgData name="Yulin Tian" userId="cf932c13ee24b1a6" providerId="LiveId" clId="{D96E9A93-9B9B-4610-B31F-C3D5074ED6CD}" dt="2026-05-16T10:37:30.257" v="508" actId="1036"/>
      <pc:docMkLst>
        <pc:docMk/>
      </pc:docMkLst>
      <pc:sldChg chg="modSp mod">
        <pc:chgData name="Yulin Tian" userId="cf932c13ee24b1a6" providerId="LiveId" clId="{D96E9A93-9B9B-4610-B31F-C3D5074ED6CD}" dt="2026-05-16T10:37:30.257" v="508" actId="1036"/>
        <pc:sldMkLst>
          <pc:docMk/>
          <pc:sldMk cId="0" sldId="256"/>
        </pc:sldMkLst>
        <pc:spChg chg="mod">
          <ac:chgData name="Yulin Tian" userId="cf932c13ee24b1a6" providerId="LiveId" clId="{D96E9A93-9B9B-4610-B31F-C3D5074ED6CD}" dt="2026-05-15T21:25:15.432" v="0" actId="122"/>
          <ac:spMkLst>
            <pc:docMk/>
            <pc:sldMk cId="0" sldId="256"/>
            <ac:spMk id="5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5:22.497" v="1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6:16.333" v="7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5:50.617" v="2" actId="122"/>
          <ac:spMkLst>
            <pc:docMk/>
            <pc:sldMk cId="0" sldId="256"/>
            <ac:spMk id="8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5:54.184" v="3" actId="122"/>
          <ac:spMkLst>
            <pc:docMk/>
            <pc:sldMk cId="0" sldId="256"/>
            <ac:spMk id="9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7:30.257" v="508" actId="1036"/>
          <ac:spMkLst>
            <pc:docMk/>
            <pc:sldMk cId="0" sldId="256"/>
            <ac:spMk id="25" creationId="{00000000-0000-0000-0000-000000000000}"/>
          </ac:spMkLst>
        </pc:spChg>
      </pc:sldChg>
      <pc:sldChg chg="modSp mod">
        <pc:chgData name="Yulin Tian" userId="cf932c13ee24b1a6" providerId="LiveId" clId="{D96E9A93-9B9B-4610-B31F-C3D5074ED6CD}" dt="2026-05-15T21:30:26.016" v="188" actId="20577"/>
        <pc:sldMkLst>
          <pc:docMk/>
          <pc:sldMk cId="0" sldId="257"/>
        </pc:sldMkLst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07.208" v="137" actId="103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Yulin Tian" userId="cf932c13ee24b1a6" providerId="LiveId" clId="{D96E9A93-9B9B-4610-B31F-C3D5074ED6CD}" dt="2026-05-15T21:28:39.746" v="167" actId="103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Yulin Tian" userId="cf932c13ee24b1a6" providerId="LiveId" clId="{D96E9A93-9B9B-4610-B31F-C3D5074ED6CD}" dt="2026-05-15T21:30:26.016" v="188" actId="20577"/>
          <ac:spMkLst>
            <pc:docMk/>
            <pc:sldMk cId="0" sldId="257"/>
            <ac:spMk id="30" creationId="{00000000-0000-0000-0000-000000000000}"/>
          </ac:spMkLst>
        </pc:spChg>
      </pc:sldChg>
      <pc:sldChg chg="modSp mod">
        <pc:chgData name="Yulin Tian" userId="cf932c13ee24b1a6" providerId="LiveId" clId="{D96E9A93-9B9B-4610-B31F-C3D5074ED6CD}" dt="2026-05-15T21:30:57.815" v="227" actId="1035"/>
        <pc:sldMkLst>
          <pc:docMk/>
          <pc:sldMk cId="0" sldId="258"/>
        </pc:sldMkLst>
        <pc:picChg chg="mod">
          <ac:chgData name="Yulin Tian" userId="cf932c13ee24b1a6" providerId="LiveId" clId="{D96E9A93-9B9B-4610-B31F-C3D5074ED6CD}" dt="2026-05-15T21:30:57.815" v="227" actId="1035"/>
          <ac:picMkLst>
            <pc:docMk/>
            <pc:sldMk cId="0" sldId="258"/>
            <ac:picMk id="7" creationId="{00000000-0000-0000-0000-000000000000}"/>
          </ac:picMkLst>
        </pc:picChg>
      </pc:sldChg>
      <pc:sldChg chg="modSp mod">
        <pc:chgData name="Yulin Tian" userId="cf932c13ee24b1a6" providerId="LiveId" clId="{D96E9A93-9B9B-4610-B31F-C3D5074ED6CD}" dt="2026-05-16T10:24:32.157" v="394" actId="1038"/>
        <pc:sldMkLst>
          <pc:docMk/>
          <pc:sldMk cId="0" sldId="259"/>
        </pc:sldMkLst>
        <pc:spChg chg="mod">
          <ac:chgData name="Yulin Tian" userId="cf932c13ee24b1a6" providerId="LiveId" clId="{D96E9A93-9B9B-4610-B31F-C3D5074ED6CD}" dt="2026-05-16T10:24:32.157" v="394" actId="103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4:32.157" v="394" actId="103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4:32.157" v="394" actId="1038"/>
          <ac:spMkLst>
            <pc:docMk/>
            <pc:sldMk cId="0" sldId="259"/>
            <ac:spMk id="30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4:32.157" v="394" actId="1038"/>
          <ac:spMkLst>
            <pc:docMk/>
            <pc:sldMk cId="0" sldId="259"/>
            <ac:spMk id="38" creationId="{00000000-0000-0000-0000-000000000000}"/>
          </ac:spMkLst>
        </pc:spChg>
      </pc:sldChg>
      <pc:sldChg chg="modSp mod">
        <pc:chgData name="Yulin Tian" userId="cf932c13ee24b1a6" providerId="LiveId" clId="{D96E9A93-9B9B-4610-B31F-C3D5074ED6CD}" dt="2026-05-16T10:26:36.752" v="440" actId="20577"/>
        <pc:sldMkLst>
          <pc:docMk/>
          <pc:sldMk cId="0" sldId="260"/>
        </pc:sldMkLst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5:54.720" v="414" actId="103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6:36.752" v="440" actId="20577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Yulin Tian" userId="cf932c13ee24b1a6" providerId="LiveId" clId="{D96E9A93-9B9B-4610-B31F-C3D5074ED6CD}" dt="2026-05-16T10:30:28.105" v="468" actId="1035"/>
        <pc:sldMkLst>
          <pc:docMk/>
          <pc:sldMk cId="0" sldId="262"/>
        </pc:sldMkLst>
        <pc:spChg chg="mod">
          <ac:chgData name="Yulin Tian" userId="cf932c13ee24b1a6" providerId="LiveId" clId="{D96E9A93-9B9B-4610-B31F-C3D5074ED6CD}" dt="2026-05-16T10:22:33.224" v="305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3:26.527" v="330" actId="10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3:26.527" v="330" actId="103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27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28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0:28.105" v="468" actId="1035"/>
          <ac:spMkLst>
            <pc:docMk/>
            <pc:sldMk cId="0" sldId="262"/>
            <ac:spMk id="29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3:26.527" v="330" actId="1036"/>
          <ac:spMkLst>
            <pc:docMk/>
            <pc:sldMk cId="0" sldId="262"/>
            <ac:spMk id="30" creationId="{00000000-0000-0000-0000-000000000000}"/>
          </ac:spMkLst>
        </pc:spChg>
      </pc:sldChg>
      <pc:sldChg chg="modSp mod">
        <pc:chgData name="Yulin Tian" userId="cf932c13ee24b1a6" providerId="LiveId" clId="{D96E9A93-9B9B-4610-B31F-C3D5074ED6CD}" dt="2026-05-16T10:34:51.132" v="498" actId="20577"/>
        <pc:sldMkLst>
          <pc:docMk/>
          <pc:sldMk cId="0" sldId="263"/>
        </pc:sldMkLst>
        <pc:spChg chg="mod">
          <ac:chgData name="Yulin Tian" userId="cf932c13ee24b1a6" providerId="LiveId" clId="{D96E9A93-9B9B-4610-B31F-C3D5074ED6CD}" dt="2026-05-15T21:32:45.249" v="258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4:51.132" v="498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Yulin Tian" userId="cf932c13ee24b1a6" providerId="LiveId" clId="{D96E9A93-9B9B-4610-B31F-C3D5074ED6CD}" dt="2026-05-16T10:20:28.403" v="27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Yulin Tian" userId="cf932c13ee24b1a6" providerId="LiveId" clId="{D96E9A93-9B9B-4610-B31F-C3D5074ED6CD}" dt="2026-05-16T10:31:15.445" v="496" actId="1036"/>
          <ac:spMkLst>
            <pc:docMk/>
            <pc:sldMk cId="0" sldId="263"/>
            <ac:spMk id="24" creationId="{00000000-0000-0000-0000-000000000000}"/>
          </ac:spMkLst>
        </pc:spChg>
      </pc:sldChg>
      <pc:sldChg chg="modSp mod">
        <pc:chgData name="Yulin Tian" userId="cf932c13ee24b1a6" providerId="LiveId" clId="{D96E9A93-9B9B-4610-B31F-C3D5074ED6CD}" dt="2026-05-16T10:35:24.278" v="502" actId="20577"/>
        <pc:sldMkLst>
          <pc:docMk/>
          <pc:sldMk cId="0" sldId="264"/>
        </pc:sldMkLst>
        <pc:spChg chg="mod">
          <ac:chgData name="Yulin Tian" userId="cf932c13ee24b1a6" providerId="LiveId" clId="{D96E9A93-9B9B-4610-B31F-C3D5074ED6CD}" dt="2026-05-16T10:35:24.278" v="502" actId="20577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91CB8-57AC-45E2-9886-735CF7FDCB88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D105-DE99-425A-9568-23D1AF909C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60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BCD105-DE99-425A-9568-23D1AF909C8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30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64008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185855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FFFF"/>
                </a:solidFill>
              </a:rPr>
              <a:t>"When the Floor Speaks,
 Does the Market Listen?"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118585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AEC6CF"/>
                </a:solidFill>
              </a:rPr>
              <a:t>Employee Sentiment, Stock Performance,
and the Dual-Level Quality Signal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9847" y="2615184"/>
            <a:ext cx="4572000" cy="54864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11185855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5929E"/>
                </a:solidFill>
              </a:rPr>
              <a:t>GRA 19701 Master Thesis  |  7th Supervision  |  June 3rd,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11185855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85929E"/>
                </a:solidFill>
              </a:rPr>
              <a:t>Yulin Tian  &amp;  Ilia </a:t>
            </a:r>
            <a:r>
              <a:rPr sz="1200" b="0" i="0" dirty="0" err="1">
                <a:solidFill>
                  <a:srgbClr val="85929E"/>
                </a:solidFill>
              </a:rPr>
              <a:t>Kornietskii</a:t>
            </a:r>
            <a:r>
              <a:rPr sz="1200" b="0" i="0" dirty="0">
                <a:solidFill>
                  <a:srgbClr val="85929E"/>
                </a:solidFill>
              </a:rPr>
              <a:t>
Supervisor: Auke </a:t>
            </a:r>
            <a:r>
              <a:rPr sz="1200" b="0" i="0" dirty="0" err="1">
                <a:solidFill>
                  <a:srgbClr val="85929E"/>
                </a:solidFill>
              </a:rPr>
              <a:t>Hunneman</a:t>
            </a:r>
            <a:r>
              <a:rPr sz="1200" b="0" i="0" dirty="0">
                <a:solidFill>
                  <a:srgbClr val="85929E"/>
                </a:solidFill>
              </a:rPr>
              <a:t>  |  BI Norwegian Business School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" y="4209948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2599" y="4301388"/>
            <a:ext cx="1865376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7A8A"/>
                </a:solidFill>
              </a:rPr>
              <a:t>18,900+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599" y="4941468"/>
            <a:ext cx="1865376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Words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9727" y="4209948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2879" y="4301388"/>
            <a:ext cx="1865376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7A8A"/>
                </a:solidFill>
              </a:rPr>
              <a:t>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2879" y="4941468"/>
            <a:ext cx="1865376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0007" y="4209948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3159" y="4301388"/>
            <a:ext cx="1865376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7A8A"/>
                </a:solidFill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3159" y="4941468"/>
            <a:ext cx="1865376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Figures
(main body)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0287" y="4209948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3439" y="4301388"/>
            <a:ext cx="1865376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7A8A"/>
                </a:solidFill>
              </a:rPr>
              <a:t>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3439" y="4941468"/>
            <a:ext cx="1865376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Firms
12 Industries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70567" y="4209948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3719" y="4301388"/>
            <a:ext cx="1865376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7A8A"/>
                </a:solidFill>
              </a:rPr>
              <a:t>1.9M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3719" y="4941468"/>
            <a:ext cx="1865376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</a:rPr>
              <a:t>Reviews
Analysed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30188"/>
            <a:ext cx="11185855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5929E"/>
                </a:solidFill>
              </a:rPr>
              <a:t>MSc Data Science for Business  |  MSc Strategic Marketing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Story We Are 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C6CF"/>
                </a:solidFill>
              </a:rPr>
              <a:t>One coherent narrative from question to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651038"/>
            <a:ext cx="379476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" y="166932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ACT 1: The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16310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Does employee voice carry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45571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that stock markets care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04092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Glassdoor: 1.9M reviews, 86 firms,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333533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12 industries, 7 years (2016–2023)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7096" y="1651038"/>
            <a:ext cx="379476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6824" y="166932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 2: The Surprise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16310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The answer is YES — but not 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45571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you would expect.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304092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Within firms: sentiment peaks PRECEDE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333533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return underperformance (β = −0.061***)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3918749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Across firms: positive quality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4211357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but already priced in by the market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1651038"/>
            <a:ext cx="3794760" cy="411480"/>
          </a:xfrm>
          <a:prstGeom prst="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66932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 3: The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16310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We propose the Dual-Level Model: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74831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Cross-sectional = quality marker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04092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Within-firm = information already priced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626141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Employee voice is signal, not noise 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3918749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but the market is listening faster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211357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than Glassdoor can report.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5146998"/>
            <a:ext cx="11789359" cy="5029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" y="5248572"/>
            <a:ext cx="11551615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“Employee sentiment operates as a structural quality marker</a:t>
            </a:r>
            <a:r>
              <a:rPr lang="en-GB" sz="1100" b="1" i="0" dirty="0">
                <a:solidFill>
                  <a:srgbClr val="FFFFFF"/>
                </a:solidFill>
              </a:rPr>
              <a:t>, </a:t>
            </a:r>
            <a:r>
              <a:rPr sz="1100" b="1" i="0" dirty="0">
                <a:solidFill>
                  <a:srgbClr val="FFFFFF"/>
                </a:solidFill>
              </a:rPr>
              <a:t>not a </a:t>
            </a:r>
            <a:r>
              <a:rPr lang="en-GB" sz="1100" b="1" i="0" dirty="0" err="1">
                <a:solidFill>
                  <a:srgbClr val="FFFFFF"/>
                </a:solidFill>
              </a:rPr>
              <a:t>shart</a:t>
            </a:r>
            <a:r>
              <a:rPr lang="en-GB" sz="1100" b="1" i="0" dirty="0">
                <a:solidFill>
                  <a:srgbClr val="FFFFFF"/>
                </a:solidFill>
              </a:rPr>
              <a:t>-term </a:t>
            </a:r>
            <a:r>
              <a:rPr sz="1100" b="1" i="0" dirty="0">
                <a:solidFill>
                  <a:srgbClr val="FFFFFF"/>
                </a:solidFill>
              </a:rPr>
              <a:t>return-generating signal</a:t>
            </a:r>
            <a:r>
              <a:rPr lang="en-GB" sz="1100" b="1" i="0" dirty="0">
                <a:solidFill>
                  <a:srgbClr val="FFFFFF"/>
                </a:solidFill>
              </a:rPr>
              <a:t>, </a:t>
            </a:r>
            <a:r>
              <a:rPr sz="1100" b="1" i="0" dirty="0">
                <a:solidFill>
                  <a:srgbClr val="FFFFFF"/>
                </a:solidFill>
              </a:rPr>
              <a:t>consistent with an efficient market that has already priced in employee wellbeing.”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" y="6565392"/>
            <a:ext cx="11789359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5929E"/>
                </a:solidFill>
              </a:rPr>
              <a:t>This is the thesis statement that runs through all 8 sections.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Dual-Level Sentiment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C6CF"/>
                </a:solidFill>
              </a:rPr>
              <a:t>Our original theoretical contribution (Section 2.5)</a:t>
            </a:r>
          </a:p>
        </p:txBody>
      </p:sp>
      <p:pic>
        <p:nvPicPr>
          <p:cNvPr id="7" name="Picture 6" descr="Fig_DualLevel_Conceptual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7806"/>
            <a:ext cx="1069848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" y="6565392"/>
            <a:ext cx="11789359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5929E"/>
                </a:solidFill>
              </a:rPr>
              <a:t>Figure 1 in the thesis. This framework reconciles the positive cross-sectional and negative within-firm effects into one coherent theory.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Four Hypotheses — Four Dimensions of Employee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C6CF"/>
                </a:solidFill>
              </a:rPr>
              <a:t>Each hypothesis targets a different level of the sentiment–return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115568"/>
            <a:ext cx="502920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7744" y="143560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15568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15214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Cross-Sectional Quality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44475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Higher sentiment firms → higher average 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0078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929E"/>
                </a:solidFill>
              </a:rPr>
              <a:t>Test: Between estimator, portfolio sort, 3-year OLS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207008"/>
            <a:ext cx="5257800" cy="914400"/>
          </a:xfrm>
          <a:prstGeom prst="rect">
            <a:avLst/>
          </a:prstGeom>
          <a:solidFill>
            <a:srgbClr val="FAFCFE"/>
          </a:solidFill>
          <a:ln w="1524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1764" y="1525404"/>
            <a:ext cx="4983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3E50"/>
                </a:solidFill>
              </a:rPr>
              <a:t>Positive direction, not significant (p = 0.068)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2441448"/>
            <a:ext cx="502920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" y="27614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41448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247802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Within-Firm Information 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7706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Sentiment peaks → lower subsequent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02666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929E"/>
                </a:solidFill>
              </a:rPr>
              <a:t>Test: Two-Way FE panel regression, horizon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532888"/>
            <a:ext cx="5257800" cy="914400"/>
          </a:xfrm>
          <a:prstGeom prst="rect">
            <a:avLst/>
          </a:prstGeom>
          <a:solidFill>
            <a:srgbClr val="FAFCFE"/>
          </a:solidFill>
          <a:ln w="1524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1764" y="2851284"/>
            <a:ext cx="4983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SUPPORTED: β = −0.061*** (p = 0.001)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3767328"/>
            <a:ext cx="502920" cy="1143000"/>
          </a:xfrm>
          <a:prstGeom prst="rect">
            <a:avLst/>
          </a:prstGeom>
          <a:solidFill>
            <a:srgbClr val="D6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" y="4087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67328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380390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COVID Organisational 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09651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High pre-crisis sentiment → crisis 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3525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929E"/>
                </a:solidFill>
              </a:rPr>
              <a:t>Test: Median split, cumulative return paths, sub-period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858768"/>
            <a:ext cx="5257800" cy="914400"/>
          </a:xfrm>
          <a:prstGeom prst="rect">
            <a:avLst/>
          </a:prstGeom>
          <a:solidFill>
            <a:srgbClr val="FAFCFE"/>
          </a:solidFill>
          <a:ln w="15240">
            <a:solidFill>
              <a:srgbClr val="D68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91764" y="4177164"/>
            <a:ext cx="4983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Suggestive: High ≈ +69% vs Low group (3-yr)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5093207"/>
            <a:ext cx="502920" cy="1143000"/>
          </a:xfrm>
          <a:prstGeom prst="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7744" y="5413247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93207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129783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Topical Content Beyond Scores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42239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3E50"/>
                </a:solidFill>
              </a:rPr>
              <a:t>Discussion topics vary across industries and firms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678423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929E"/>
                </a:solidFill>
              </a:rPr>
              <a:t>Test: LDA (K=11), Industry Barometer, divergence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5184647"/>
            <a:ext cx="5257800" cy="914400"/>
          </a:xfrm>
          <a:prstGeom prst="rect">
            <a:avLst/>
          </a:prstGeom>
          <a:solidFill>
            <a:srgbClr val="FAFCFE"/>
          </a:solidFill>
          <a:ln w="1524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91764" y="5503043"/>
            <a:ext cx="498348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SUPPORTED: 11 interpretable topics, strong variation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" y="6565392"/>
            <a:ext cx="11789359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5929E"/>
                </a:solidFill>
              </a:rPr>
              <a:t>Table 1 and Table 5 in the thesis provide the full hypothesis framework and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Primary Finding: Why the Negative β Is Not Bad News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C6CF"/>
                </a:solidFill>
              </a:rPr>
              <a:t>Section 5.2 — The most important result and its interpretation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115568"/>
            <a:ext cx="5486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18872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What the regression shows: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764960"/>
            <a:ext cx="521208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8106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M1 Pooled OLS: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57567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5929E"/>
                </a:solidFill>
              </a:rPr>
              <a:t>β = +0.002 (p = 0.862)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9531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5929E"/>
                </a:solidFill>
              </a:rPr>
              <a:t>Near zero — opposing effects cancel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725080"/>
            <a:ext cx="5212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770799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M2 Firm FE: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17687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80B9"/>
                </a:solidFill>
              </a:rPr>
              <a:t>β = −0.047* (p = 0.039)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5543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5929E"/>
                </a:solidFill>
              </a:rPr>
              <a:t>Within-firm negative effect emerges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3685200"/>
            <a:ext cx="5212080" cy="8229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7309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M3 Two-Way FE: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778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β = −0.061*** (p = 0.001)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215551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5929E"/>
                </a:solidFill>
              </a:rPr>
              <a:t>Primary result — robust and significant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4645320"/>
            <a:ext cx="52120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6910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M4 + Text: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9379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β = −0.061** (p = 0.001)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17567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5929E"/>
                </a:solidFill>
              </a:rPr>
              <a:t>Survives text sentiment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1115568"/>
            <a:ext cx="60807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1188720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What it means: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702764"/>
            <a:ext cx="5760720" cy="3477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1E8A49"/>
                </a:solidFill>
              </a:rPr>
              <a:t>✔  The negative β does NOT mean happy employees hurt stock prices.</a:t>
            </a:r>
          </a:p>
          <a:p>
            <a:pPr algn="l"/>
            <a:endParaRPr lang="en-GB" sz="1000" b="1" dirty="0">
              <a:solidFill>
                <a:srgbClr val="1E8A49"/>
              </a:solidFill>
            </a:endParaRPr>
          </a:p>
          <a:p>
            <a:pPr algn="l"/>
            <a:endParaRPr lang="en-GB" sz="1000" b="1" dirty="0">
              <a:solidFill>
                <a:srgbClr val="1E8A49"/>
              </a:solidFill>
            </a:endParaRPr>
          </a:p>
          <a:p>
            <a:pPr algn="l"/>
            <a:endParaRPr sz="1000" b="1" dirty="0">
              <a:solidFill>
                <a:srgbClr val="1E8A49"/>
              </a:solidFill>
            </a:endParaRPr>
          </a:p>
          <a:p>
            <a:pPr algn="l"/>
            <a:r>
              <a:rPr sz="1000" b="1" dirty="0">
                <a:solidFill>
                  <a:srgbClr val="2980B9"/>
                </a:solidFill>
              </a:rPr>
              <a:t>✔  It means the market has already priced in employee quality BEFORE the Glassdoor score peaks.</a:t>
            </a:r>
          </a:p>
          <a:p>
            <a:pPr algn="l"/>
            <a:endParaRPr lang="en-GB" sz="1000" b="1" dirty="0">
              <a:solidFill>
                <a:srgbClr val="2980B9"/>
              </a:solidFill>
            </a:endParaRPr>
          </a:p>
          <a:p>
            <a:pPr algn="l"/>
            <a:endParaRPr lang="en-GB" sz="1000" b="1" dirty="0">
              <a:solidFill>
                <a:srgbClr val="2980B9"/>
              </a:solidFill>
            </a:endParaRPr>
          </a:p>
          <a:p>
            <a:pPr algn="l"/>
            <a:endParaRPr sz="1000" b="1" dirty="0">
              <a:solidFill>
                <a:srgbClr val="2980B9"/>
              </a:solidFill>
            </a:endParaRPr>
          </a:p>
          <a:p>
            <a:pPr algn="l"/>
            <a:r>
              <a:rPr sz="1000" b="1" dirty="0">
                <a:solidFill>
                  <a:srgbClr val="2C3E50"/>
                </a:solidFill>
              </a:rPr>
              <a:t>✔  Sentiment peaks are lagging confirmations of good news, not leading indicators of future gains.</a:t>
            </a:r>
          </a:p>
          <a:p>
            <a:pPr algn="l"/>
            <a:endParaRPr lang="en-GB" sz="1000" b="1" dirty="0">
              <a:solidFill>
                <a:srgbClr val="2C3E50"/>
              </a:solidFill>
            </a:endParaRPr>
          </a:p>
          <a:p>
            <a:pPr algn="l"/>
            <a:endParaRPr lang="en-GB" sz="1000" b="1" dirty="0">
              <a:solidFill>
                <a:srgbClr val="2C3E50"/>
              </a:solidFill>
            </a:endParaRPr>
          </a:p>
          <a:p>
            <a:pPr algn="l"/>
            <a:endParaRPr sz="1000" b="1" dirty="0">
              <a:solidFill>
                <a:srgbClr val="2C3E50"/>
              </a:solidFill>
            </a:endParaRPr>
          </a:p>
          <a:p>
            <a:pPr algn="l"/>
            <a:r>
              <a:rPr sz="1000" b="1" dirty="0">
                <a:solidFill>
                  <a:srgbClr val="C0392B"/>
                </a:solidFill>
              </a:rPr>
              <a:t>✔  The effect strengthens at longer horizons:</a:t>
            </a:r>
          </a:p>
          <a:p>
            <a:pPr algn="l"/>
            <a:r>
              <a:rPr sz="1000" b="0" dirty="0">
                <a:solidFill>
                  <a:srgbClr val="2C3E50"/>
                </a:solidFill>
              </a:rPr>
              <a:t>     1 month: −0.061***</a:t>
            </a:r>
          </a:p>
          <a:p>
            <a:pPr algn="l"/>
            <a:r>
              <a:rPr sz="1000" b="0" dirty="0">
                <a:solidFill>
                  <a:srgbClr val="2C3E50"/>
                </a:solidFill>
              </a:rPr>
              <a:t>     3 months: −0.095*</a:t>
            </a:r>
          </a:p>
          <a:p>
            <a:pPr algn="l"/>
            <a:r>
              <a:rPr sz="1000" b="0" dirty="0">
                <a:solidFill>
                  <a:srgbClr val="2C3E50"/>
                </a:solidFill>
              </a:rPr>
              <a:t>     6 months: −0.153*</a:t>
            </a:r>
          </a:p>
          <a:p>
            <a:pPr algn="l"/>
            <a:r>
              <a:rPr sz="1000" b="0" dirty="0">
                <a:solidFill>
                  <a:srgbClr val="C0392B"/>
                </a:solidFill>
              </a:rPr>
              <a:t>     → This rules out noise. It is real mean reversion.</a:t>
            </a:r>
          </a:p>
          <a:p>
            <a:pPr algn="l"/>
            <a:endParaRPr lang="en-GB" sz="1000" b="0" dirty="0">
              <a:solidFill>
                <a:srgbClr val="C0392B"/>
              </a:solidFill>
            </a:endParaRPr>
          </a:p>
          <a:p>
            <a:pPr algn="l"/>
            <a:endParaRPr lang="en-GB" sz="1000" b="0" dirty="0">
              <a:solidFill>
                <a:srgbClr val="C0392B"/>
              </a:solidFill>
            </a:endParaRPr>
          </a:p>
          <a:p>
            <a:pPr algn="l"/>
            <a:endParaRPr sz="1000" b="0" dirty="0">
              <a:solidFill>
                <a:srgbClr val="C0392B"/>
              </a:solidFill>
            </a:endParaRPr>
          </a:p>
          <a:p>
            <a:pPr algn="l"/>
            <a:r>
              <a:rPr sz="1000" b="1" dirty="0">
                <a:solidFill>
                  <a:srgbClr val="D68A10"/>
                </a:solidFill>
              </a:rPr>
              <a:t>✔  Consistent with the Efficient Market Hypothesis</a:t>
            </a:r>
          </a:p>
          <a:p>
            <a:pPr algn="l"/>
            <a:r>
              <a:rPr sz="1000" b="0" dirty="0">
                <a:solidFill>
                  <a:srgbClr val="85929E"/>
                </a:solidFill>
              </a:rPr>
              <a:t>     (Fama, 1970; De Bondt &amp; Thaler, 1985)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Thesis Structure: 8 Sections, One Continuous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EC6CF"/>
                </a:solidFill>
              </a:rPr>
              <a:t>18,900+ words | 49 references | 11 main-body figures | 4 appendices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115568"/>
            <a:ext cx="11789359" cy="36576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133856"/>
            <a:ext cx="39319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133856"/>
            <a:ext cx="44165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3" y="1133856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133856"/>
            <a:ext cx="546811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Key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508760"/>
            <a:ext cx="1178935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" y="16002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52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58191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Introduction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3" y="161848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3" y="158191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The puzzle, the gap, four contributions, findings preview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2103120"/>
            <a:ext cx="11789359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21945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17627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Literature Review &amp;
Theoretical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221284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3" y="217627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Four literature streams → Dual-Level Sentiment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697480"/>
            <a:ext cx="1178935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8" y="27889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52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277063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Hypotheses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3" y="280720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1,200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3" y="277063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H1–H4 formally derived from theory (Table 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3291840"/>
            <a:ext cx="11789359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2608" y="33832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52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336499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Data &amp; 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3" y="340156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3,000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3" y="336499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Composite index, VADER, panel models M1–M4, LDA (formulas + Table 2–3)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3886200"/>
            <a:ext cx="1178935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" y="3977639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395935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Empirical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58383" y="399592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3,400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2783" y="395935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All hypothesis tests with 9 figures + Tables 4–5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" y="4480560"/>
            <a:ext cx="11789359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" y="457200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52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455371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Discussion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3" y="459028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2,100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2783" y="455371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Theoretical implications, 3-audience practical implications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5074920"/>
            <a:ext cx="1178935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51663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52F"/>
                </a:solidFill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5148072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Limitations &amp;
Future Research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184648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1,000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3" y="5148072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7 limitations including sample size, large-firm bias, language scope, timing lag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" y="5669279"/>
            <a:ext cx="11789359" cy="5486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8" y="5760719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52F"/>
                </a:solidFill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5742431"/>
            <a:ext cx="441655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52F"/>
                </a:solidFill>
              </a:rPr>
              <a:t>Conclusion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58383" y="5779007"/>
            <a:ext cx="758952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5929E"/>
                </a:solidFill>
              </a:rPr>
              <a:t>620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72783" y="5742431"/>
            <a:ext cx="5468112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</a:rPr>
              <a:t>"Employee voice is signal, not noise"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1168" y="6565392"/>
            <a:ext cx="11789359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5929E"/>
                </a:solidFill>
              </a:rPr>
              <a:t>All sections follow APA 7th style. References: 49 sources. Appendices A–D with 34 supplementary figures.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Why This Story Is </a:t>
            </a:r>
            <a:r>
              <a:rPr lang="en-GB" sz="2400" b="1" i="0" dirty="0">
                <a:solidFill>
                  <a:srgbClr val="FFFFFF"/>
                </a:solidFill>
              </a:rPr>
              <a:t>Potentially </a:t>
            </a:r>
            <a:r>
              <a:rPr sz="2400" b="1" i="0" dirty="0">
                <a:solidFill>
                  <a:srgbClr val="FFFFFF"/>
                </a:solidFill>
              </a:rPr>
              <a:t>Publishable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C6CF"/>
                </a:solidFill>
              </a:rPr>
              <a:t>Four contributions that differentiate our thesis from existing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29756"/>
            <a:ext cx="548640" cy="1170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64979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1329756"/>
            <a:ext cx="11173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9057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252F"/>
                </a:solidFill>
              </a:rPr>
              <a:t>Composite Sentiment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3846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980B9"/>
                </a:solidFill>
              </a:rPr>
              <a:t>Novel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88317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3E50"/>
                </a:solidFill>
              </a:rPr>
              <a:t>First study to </a:t>
            </a:r>
            <a:r>
              <a:rPr sz="1000" b="0" i="0" dirty="0" err="1">
                <a:solidFill>
                  <a:srgbClr val="2C3E50"/>
                </a:solidFill>
              </a:rPr>
              <a:t>synthesise</a:t>
            </a:r>
            <a:r>
              <a:rPr sz="1000" b="0" i="0" dirty="0">
                <a:solidFill>
                  <a:srgbClr val="2C3E50"/>
                </a:solidFill>
              </a:rPr>
              <a:t> structured ratings, categorical signals, and NLP text sentiment from Glassdoor into a single composite measure. Two-tier architecture (60% core / 40% sub-ratings) with PCA 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655636"/>
            <a:ext cx="548640" cy="1170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" y="29756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2655636"/>
            <a:ext cx="11173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91645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Negative Within-Firm β as Market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7105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</a:rPr>
              <a:t>Counterintuitive Finding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20905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First panel-based evidence that within-firm sentiment peaks PRECEDE return underperformance. We don’t claim sentiment hurts firms — we show the market is faster than Glassdoor. Novel interpretation.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981516"/>
            <a:ext cx="548640" cy="1170432"/>
          </a:xfrm>
          <a:prstGeom prst="rect">
            <a:avLst/>
          </a:prstGeom>
          <a:solidFill>
            <a:srgbClr val="1E8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43015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3981516"/>
            <a:ext cx="11173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242329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"Feel" + "Say" in One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036379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8A49"/>
                </a:solidFill>
              </a:rPr>
              <a:t>Integrated Two-Strand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53493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Most studies do sentiment OR topic modelling. We do both and BRIDGE them. The Industry Barometer and Firm Competitor Analysis connect text content to financial outcomes — a methodological template for future research.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5307395"/>
            <a:ext cx="548640" cy="1170432"/>
          </a:xfrm>
          <a:prstGeom prst="rect">
            <a:avLst/>
          </a:prstGeom>
          <a:solidFill>
            <a:srgbClr val="D6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6032" y="562743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5307395"/>
            <a:ext cx="111739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8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568209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52F"/>
                </a:solidFill>
              </a:rPr>
              <a:t>COVID-19 Resilience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362259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68A10"/>
                </a:solidFill>
              </a:rPr>
              <a:t>Natural Experiment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5860817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Exploiting the pandemic as an exogenous shock, we show high-sentiment firms recovered faster. Economically meaningful even if statistically suggestive. Consistent with Lins et al. (2017) social-capital-as-insurance framework.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" y="73152"/>
            <a:ext cx="11789359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Submission Readiness: Status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585216"/>
            <a:ext cx="11789359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EC6CF"/>
                </a:solidFill>
              </a:rPr>
              <a:t>Where we are and what remains before June 15th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29756"/>
            <a:ext cx="5760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384620"/>
            <a:ext cx="54864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8A49"/>
                </a:solidFill>
              </a:rPr>
              <a:t>✔  </a:t>
            </a:r>
            <a:r>
              <a:rPr lang="en-GB" sz="1400" b="1" i="0" dirty="0">
                <a:solidFill>
                  <a:srgbClr val="1E8A49"/>
                </a:solidFill>
              </a:rPr>
              <a:t>What we have </a:t>
            </a:r>
            <a:r>
              <a:rPr sz="1400" b="1" i="0" dirty="0">
                <a:solidFill>
                  <a:srgbClr val="1E8A49"/>
                </a:solidFill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786956"/>
            <a:ext cx="5486400" cy="36317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2C3E50"/>
                </a:solidFill>
              </a:rPr>
              <a:t>✔  Full thesis written: 18,900+ words, 8 sections</a:t>
            </a:r>
            <a:endParaRPr lang="en-GB" sz="1000" b="1" dirty="0">
              <a:solidFill>
                <a:srgbClr val="2C3E50"/>
              </a:solidFill>
            </a:endParaRPr>
          </a:p>
          <a:p>
            <a:pPr algn="l"/>
            <a:endParaRPr sz="1000" b="1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49 APA 7th references from published sources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11 publication-quality figures in main body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4</a:t>
            </a:r>
            <a:r>
              <a:rPr lang="en-GB" sz="1000" b="0" dirty="0">
                <a:solidFill>
                  <a:srgbClr val="2C3E50"/>
                </a:solidFill>
              </a:rPr>
              <a:t>3</a:t>
            </a:r>
            <a:r>
              <a:rPr sz="1000" b="0" dirty="0">
                <a:solidFill>
                  <a:srgbClr val="2C3E50"/>
                </a:solidFill>
              </a:rPr>
              <a:t> supplementary figures in Appendices A–D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5 tables (hypotheses, data summary, variables, regression, results)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All numerical values verified against notebook outputs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Dual-Level Sentiment Model: original theoretical framework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Topic modelling with Industry Barometer and Firm Analysis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COVID natural experiment as resilience test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Abstract with 8 keywords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Cover page with thesis title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✔  5 </a:t>
            </a:r>
            <a:r>
              <a:rPr sz="1000" b="0" dirty="0" err="1">
                <a:solidFill>
                  <a:srgbClr val="2C3E50"/>
                </a:solidFill>
              </a:rPr>
              <a:t>Jupyter</a:t>
            </a:r>
            <a:r>
              <a:rPr sz="1000" b="0" dirty="0">
                <a:solidFill>
                  <a:srgbClr val="2C3E50"/>
                </a:solidFill>
              </a:rPr>
              <a:t> notebooks (reproducible, ready for GitHub)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29756"/>
            <a:ext cx="580644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8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38462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8A10"/>
                </a:solidFill>
              </a:rPr>
              <a:t>▶  REMAINING BEFORE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786956"/>
            <a:ext cx="5486400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2C3E50"/>
                </a:solidFill>
              </a:rPr>
              <a:t>▶  Supervisor feedback on today’s presentation</a:t>
            </a:r>
            <a:endParaRPr lang="en-GB" sz="1000" b="1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0" dirty="0">
                <a:solidFill>
                  <a:srgbClr val="2C3E50"/>
                </a:solidFill>
              </a:rPr>
              <a:t>▶  Final proofreading and formatting check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r>
              <a:rPr sz="1000" b="0" dirty="0">
                <a:solidFill>
                  <a:srgbClr val="2C3E50"/>
                </a:solidFill>
              </a:rPr>
              <a:t>▶  Push notebooks and data to GitHub</a:t>
            </a:r>
            <a:r>
              <a:rPr lang="en-GB" sz="1000" dirty="0">
                <a:solidFill>
                  <a:srgbClr val="2C3E50"/>
                </a:solidFill>
              </a:rPr>
              <a:t> ✔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r>
              <a:rPr sz="1000" b="0" dirty="0">
                <a:solidFill>
                  <a:srgbClr val="2C3E50"/>
                </a:solidFill>
              </a:rPr>
              <a:t>▶  Add GitHub link to Appendix D</a:t>
            </a:r>
            <a:r>
              <a:rPr lang="en-GB" sz="1000" dirty="0">
                <a:solidFill>
                  <a:srgbClr val="2C3E50"/>
                </a:solidFill>
              </a:rPr>
              <a:t> ✔</a:t>
            </a:r>
            <a:endParaRPr lang="en-GB" sz="1000" b="0" dirty="0">
              <a:solidFill>
                <a:srgbClr val="2C3E50"/>
              </a:solidFill>
            </a:endParaRPr>
          </a:p>
          <a:p>
            <a:pPr algn="l"/>
            <a:endParaRPr sz="1000" b="0" dirty="0">
              <a:solidFill>
                <a:srgbClr val="2C3E50"/>
              </a:solidFill>
            </a:endParaRPr>
          </a:p>
          <a:p>
            <a:pPr algn="l"/>
            <a:r>
              <a:rPr sz="1000" b="1" dirty="0">
                <a:solidFill>
                  <a:srgbClr val="C0392B"/>
                </a:solidFill>
              </a:rPr>
              <a:t>▶  Submit by June 15th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008948"/>
            <a:ext cx="58064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4072956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52F"/>
                </a:solidFill>
              </a:rPr>
              <a:t>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6614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8A"/>
                </a:solidFill>
              </a:rPr>
              <a:t>June 3rd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4661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8A"/>
                </a:solidFill>
              </a:rPr>
              <a:t>7th Supervision (today)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8618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June 4–8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861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3E50"/>
                </a:solidFill>
              </a:rPr>
              <a:t>Incorporate feedback, final edits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0622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June 9–10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10622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3E50"/>
                </a:solidFill>
              </a:rPr>
              <a:t>Proofreading, GitHub push</a:t>
            </a:r>
            <a:r>
              <a:rPr lang="en-GB" sz="1000" b="0" i="0" dirty="0">
                <a:solidFill>
                  <a:srgbClr val="2C3E50"/>
                </a:solidFill>
              </a:rPr>
              <a:t> /Review</a:t>
            </a:r>
            <a:endParaRPr sz="1000" b="0" i="0" dirty="0">
              <a:solidFill>
                <a:srgbClr val="2C3E5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542626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June 11–12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426267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2C3E50"/>
                </a:solidFill>
              </a:rPr>
              <a:t>Format check, final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46307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June 15th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46307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SUBMISSION DEADLINE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64008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280160"/>
            <a:ext cx="12191695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800" b="1" i="0" dirty="0" err="1">
                <a:solidFill>
                  <a:srgbClr val="FFFFFF"/>
                </a:solidFill>
              </a:rPr>
              <a:t>Hartelijk</a:t>
            </a:r>
            <a:r>
              <a:rPr sz="4800" b="1" i="0" dirty="0">
                <a:solidFill>
                  <a:srgbClr val="FFFFFF"/>
                </a:solidFill>
              </a:rPr>
              <a:t> Dank</a:t>
            </a:r>
            <a:r>
              <a:rPr lang="en-GB" sz="4800" b="1" i="0" dirty="0">
                <a:solidFill>
                  <a:srgbClr val="FFFFFF"/>
                </a:solidFill>
              </a:rPr>
              <a:t> !!!</a:t>
            </a:r>
            <a:endParaRPr sz="4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42316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EC6CF"/>
                </a:solidFill>
              </a:rPr>
              <a:t>voor uw begeleiding, feedback en vertrouwen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566160"/>
            <a:ext cx="3959352" cy="54864"/>
          </a:xfrm>
          <a:prstGeom prst="rect">
            <a:avLst/>
          </a:prstGeom>
          <a:solidFill>
            <a:srgbClr val="1A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3794760"/>
            <a:ext cx="12191695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Auke Hunneman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5929E"/>
                </a:solidFill>
              </a:rPr>
              <a:t>Supervisor  |  BI Norwegian Business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83480"/>
            <a:ext cx="12191695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EC6CF"/>
                </a:solidFill>
              </a:rPr>
              <a:t>Yulin Tian  &amp;  Ilia Kornietskii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39496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5929E"/>
                </a:solidFill>
              </a:rPr>
              <a:t>MSc Data Science for Business  |  MSc Strategic Marketing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897880"/>
            <a:ext cx="9448495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"What employees feel and say matters —
not because it predicts next month’s stock return,
but because it reveals the quality of the organisation
beneath the financial statements."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1284</Words>
  <Application>Microsoft Office PowerPoint</Application>
  <PresentationFormat>Widescreen</PresentationFormat>
  <Paragraphs>214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Yulin Tian</cp:lastModifiedBy>
  <cp:revision>1</cp:revision>
  <dcterms:created xsi:type="dcterms:W3CDTF">2013-01-27T09:14:16Z</dcterms:created>
  <dcterms:modified xsi:type="dcterms:W3CDTF">2026-05-16T10:37:30Z</dcterms:modified>
  <cp:category/>
</cp:coreProperties>
</file>